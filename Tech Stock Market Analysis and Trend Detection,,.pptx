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9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shil kumar" initials="Sk" lastIdx="1" clrIdx="0">
    <p:extLst>
      <p:ext uri="{19B8F6BF-5375-455C-9EA6-DF929625EA0E}">
        <p15:presenceInfo xmlns:p15="http://schemas.microsoft.com/office/powerpoint/2012/main" userId="7fc75fe3e74a695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9D616-9382-4F5F-BD59-7F02C8FA7A33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D7AEE-EB10-4C93-A0A2-29FBA40DE0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4572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9D616-9382-4F5F-BD59-7F02C8FA7A33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D7AEE-EB10-4C93-A0A2-29FBA40DE0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2024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9D616-9382-4F5F-BD59-7F02C8FA7A33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D7AEE-EB10-4C93-A0A2-29FBA40DE0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4434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9D616-9382-4F5F-BD59-7F02C8FA7A33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D7AEE-EB10-4C93-A0A2-29FBA40DE0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0706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9D616-9382-4F5F-BD59-7F02C8FA7A33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D7AEE-EB10-4C93-A0A2-29FBA40DE0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9057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9D616-9382-4F5F-BD59-7F02C8FA7A33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D7AEE-EB10-4C93-A0A2-29FBA40DE0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4980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9D616-9382-4F5F-BD59-7F02C8FA7A33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D7AEE-EB10-4C93-A0A2-29FBA40DE0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820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9D616-9382-4F5F-BD59-7F02C8FA7A33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D7AEE-EB10-4C93-A0A2-29FBA40DE0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2455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9D616-9382-4F5F-BD59-7F02C8FA7A33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D7AEE-EB10-4C93-A0A2-29FBA40DE0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4024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9D616-9382-4F5F-BD59-7F02C8FA7A33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D7AEE-EB10-4C93-A0A2-29FBA40DE0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3019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9D616-9382-4F5F-BD59-7F02C8FA7A33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D7AEE-EB10-4C93-A0A2-29FBA40DE0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7148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9D616-9382-4F5F-BD59-7F02C8FA7A33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D7AEE-EB10-4C93-A0A2-29FBA40DE02D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367840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9D616-9382-4F5F-BD59-7F02C8FA7A33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D7AEE-EB10-4C93-A0A2-29FBA40DE0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00118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9D616-9382-4F5F-BD59-7F02C8FA7A33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D7AEE-EB10-4C93-A0A2-29FBA40DE0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04816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9D616-9382-4F5F-BD59-7F02C8FA7A33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D7AEE-EB10-4C93-A0A2-29FBA40DE0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03061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9D616-9382-4F5F-BD59-7F02C8FA7A33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D7AEE-EB10-4C93-A0A2-29FBA40DE0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19311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9D616-9382-4F5F-BD59-7F02C8FA7A33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D7AEE-EB10-4C93-A0A2-29FBA40DE0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147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9D616-9382-4F5F-BD59-7F02C8FA7A33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A8FD7AEE-EB10-4C93-A0A2-29FBA40DE0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9788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919D616-9382-4F5F-BD59-7F02C8FA7A33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A8FD7AEE-EB10-4C93-A0A2-29FBA40DE0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801429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  <p:sldLayoutId id="2147483752" r:id="rId13"/>
    <p:sldLayoutId id="2147483753" r:id="rId14"/>
    <p:sldLayoutId id="2147483754" r:id="rId15"/>
    <p:sldLayoutId id="2147483755" r:id="rId16"/>
    <p:sldLayoutId id="2147483756" r:id="rId17"/>
    <p:sldLayoutId id="2147483757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CA2F4-CF4D-E1BE-5F7D-0F277FE6A1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22170"/>
          </a:xfrm>
        </p:spPr>
        <p:txBody>
          <a:bodyPr>
            <a:normAutofit/>
          </a:bodyPr>
          <a:lstStyle/>
          <a:p>
            <a:r>
              <a:rPr lang="en-US" sz="3600" b="1" u="sng" dirty="0"/>
              <a:t>Tech Stock Market Analysis &amp; Trend Detection</a:t>
            </a:r>
            <a:endParaRPr lang="en-IN" sz="3600" b="1" u="sn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D06FF0-98C2-503B-DD40-398625D5A1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886121"/>
            <a:ext cx="12192000" cy="5971880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2800" b="1" u="sng" dirty="0"/>
              <a:t>Suggest One Simple Trading or Risk Idea:</a:t>
            </a:r>
          </a:p>
          <a:p>
            <a:pPr algn="l"/>
            <a:r>
              <a:rPr lang="en-US" sz="2000" b="1" u="sng" dirty="0"/>
              <a:t>Buy signal: </a:t>
            </a:r>
            <a:r>
              <a:rPr lang="en-US" sz="2000" dirty="0"/>
              <a:t>when the 20-day moving average crosses above the 50-day moving average. </a:t>
            </a:r>
          </a:p>
          <a:p>
            <a:pPr algn="l"/>
            <a:r>
              <a:rPr lang="en-US" sz="2000" b="1" u="sng" dirty="0"/>
              <a:t>Sell signal: </a:t>
            </a:r>
            <a:r>
              <a:rPr lang="en-US" sz="2000" dirty="0"/>
              <a:t>when the 20-day moving average crosses below the 50-day moving average.</a:t>
            </a:r>
          </a:p>
          <a:p>
            <a:pPr algn="l"/>
            <a:endParaRPr lang="en-US" sz="2000" b="1" u="sng" dirty="0"/>
          </a:p>
          <a:p>
            <a:pPr algn="l"/>
            <a:r>
              <a:rPr lang="en-US" sz="2800" b="1" u="sng" dirty="0"/>
              <a:t>Explain How You Would Test Whether the Idea is Useful:</a:t>
            </a:r>
          </a:p>
          <a:p>
            <a:pPr algn="l"/>
            <a:r>
              <a:rPr lang="en-US" sz="2000" b="1" u="sng" dirty="0" err="1"/>
              <a:t>Backtesting</a:t>
            </a:r>
            <a:r>
              <a:rPr lang="en-US" sz="2000" b="1" u="sng" dirty="0"/>
              <a:t> Using Historical Data</a:t>
            </a:r>
          </a:p>
          <a:p>
            <a:pPr algn="l"/>
            <a:r>
              <a:rPr lang="en-US" sz="2000" dirty="0"/>
              <a:t>The effectiveness of the strategy can be evaluated using historical stock data from 2019–2024.</a:t>
            </a:r>
          </a:p>
          <a:p>
            <a:pPr algn="l"/>
            <a:r>
              <a:rPr lang="en-US" sz="2000" b="1" u="sng" dirty="0"/>
              <a:t>Testing Process</a:t>
            </a:r>
          </a:p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en-US" sz="2000" dirty="0"/>
              <a:t>Calculate 20-day and 50-day moving averages. </a:t>
            </a:r>
          </a:p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en-US" sz="2000" dirty="0"/>
              <a:t>Generate buy and sell signals based on crossover points. </a:t>
            </a:r>
          </a:p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en-US" sz="2000" dirty="0"/>
              <a:t>Simulate trades using historical stock prices. </a:t>
            </a:r>
          </a:p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en-US" sz="2000" dirty="0"/>
              <a:t>Compare the strategy performance against a simple buy-and-hold approach.</a:t>
            </a:r>
          </a:p>
          <a:p>
            <a:pPr algn="l"/>
            <a:endParaRPr lang="en-US" sz="2800" b="1" u="sng" dirty="0"/>
          </a:p>
        </p:txBody>
      </p:sp>
    </p:spTree>
    <p:extLst>
      <p:ext uri="{BB962C8B-B14F-4D97-AF65-F5344CB8AC3E}">
        <p14:creationId xmlns:p14="http://schemas.microsoft.com/office/powerpoint/2010/main" val="12770242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1B21B-80CE-3B1C-7D9A-163479E68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20131"/>
          </a:xfrm>
        </p:spPr>
        <p:txBody>
          <a:bodyPr/>
          <a:lstStyle/>
          <a:p>
            <a:r>
              <a:rPr lang="en-US" b="1" u="sng" dirty="0"/>
              <a:t>Tech Stock Market Analysis &amp; Trend Detection</a:t>
            </a:r>
            <a:endParaRPr lang="en-IN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C93BB5-CE05-EAB2-88C0-548A78189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20132"/>
            <a:ext cx="12192000" cy="603786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u="sng" dirty="0"/>
              <a:t>Main Risks or Weaknesses in the Approach:</a:t>
            </a:r>
          </a:p>
          <a:p>
            <a:pPr marL="0" indent="0">
              <a:buNone/>
            </a:pPr>
            <a:r>
              <a:rPr lang="en-US" sz="2000" b="1" u="sng" dirty="0"/>
              <a:t>Historical Bias</a:t>
            </a:r>
          </a:p>
          <a:p>
            <a:pPr marL="0" indent="0">
              <a:buNone/>
            </a:pPr>
            <a:r>
              <a:rPr lang="en-US" sz="2000" dirty="0"/>
              <a:t>The strategy is tested only on past market data, and historical performance may not guarantee future results.</a:t>
            </a:r>
          </a:p>
          <a:p>
            <a:pPr marL="0" indent="0">
              <a:buNone/>
            </a:pPr>
            <a:r>
              <a:rPr lang="en-US" sz="2000" b="1" u="sng" dirty="0"/>
              <a:t>False Trading Signals</a:t>
            </a:r>
          </a:p>
          <a:p>
            <a:pPr marL="0" indent="0">
              <a:buNone/>
            </a:pPr>
            <a:r>
              <a:rPr lang="en-US" sz="2000" dirty="0"/>
              <a:t>During sideways or highly volatile markets, moving average crossovers may generate inaccurate buy or sell signals, leading to unnecessary losses.</a:t>
            </a:r>
          </a:p>
          <a:p>
            <a:pPr marL="0" indent="0">
              <a:buNone/>
            </a:pPr>
            <a:r>
              <a:rPr lang="en-US" sz="2000" b="1" u="sng" dirty="0"/>
              <a:t>Market Volatility</a:t>
            </a:r>
          </a:p>
          <a:p>
            <a:pPr marL="0" indent="0">
              <a:buNone/>
            </a:pPr>
            <a:r>
              <a:rPr lang="en-US" sz="2000" dirty="0"/>
              <a:t>Technology stocks are highly volatile, and sudden market movements can significantly impact trading performance.</a:t>
            </a:r>
          </a:p>
          <a:p>
            <a:pPr marL="0" indent="0">
              <a:buNone/>
            </a:pPr>
            <a:r>
              <a:rPr lang="en-US" sz="2000" b="1" u="sng" dirty="0"/>
              <a:t>External Economic Factors</a:t>
            </a:r>
          </a:p>
          <a:p>
            <a:pPr marL="0" indent="0">
              <a:buNone/>
            </a:pPr>
            <a:r>
              <a:rPr lang="en-US" sz="2000" dirty="0"/>
              <a:t>Unexpected events such as economic crises, interest rate changes, inflation, or geopolitical issues can strongly affect stock prices and reduce the reliability of the strategy.</a:t>
            </a:r>
          </a:p>
          <a:p>
            <a:pPr marL="0" indent="0">
              <a:buNone/>
            </a:pPr>
            <a:r>
              <a:rPr lang="en-US" sz="2000" b="1" u="sng" dirty="0"/>
              <a:t>Transaction Costs</a:t>
            </a:r>
          </a:p>
          <a:p>
            <a:pPr marL="0" indent="0">
              <a:buNone/>
            </a:pPr>
            <a:r>
              <a:rPr lang="en-US" sz="2000" dirty="0"/>
              <a:t>Frequent buying and selling may increase transaction costs and reduce overall profitability.</a:t>
            </a:r>
          </a:p>
          <a:p>
            <a:pPr marL="0" indent="0">
              <a:buNone/>
            </a:pPr>
            <a:endParaRPr lang="en-IN" b="1" u="sng" dirty="0"/>
          </a:p>
        </p:txBody>
      </p:sp>
    </p:spTree>
    <p:extLst>
      <p:ext uri="{BB962C8B-B14F-4D97-AF65-F5344CB8AC3E}">
        <p14:creationId xmlns:p14="http://schemas.microsoft.com/office/powerpoint/2010/main" val="3634729096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4B4B4B"/>
      </a:dk2>
      <a:lt2>
        <a:srgbClr val="B5B5B5"/>
      </a:lt2>
      <a:accent1>
        <a:srgbClr val="9AC43E"/>
      </a:accent1>
      <a:accent2>
        <a:srgbClr val="44BA98"/>
      </a:accent2>
      <a:accent3>
        <a:srgbClr val="43A9D9"/>
      </a:accent3>
      <a:accent4>
        <a:srgbClr val="6274D8"/>
      </a:accent4>
      <a:accent5>
        <a:srgbClr val="AB54D7"/>
      </a:accent5>
      <a:accent6>
        <a:srgbClr val="D15B37"/>
      </a:accent6>
      <a:hlink>
        <a:srgbClr val="BFE962"/>
      </a:hlink>
      <a:folHlink>
        <a:srgbClr val="C0D591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92000"/>
                <a:satMod val="180000"/>
                <a:lumMod val="114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892FADA9-420D-4323-A7A4-C1060166525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48</TotalTime>
  <Words>238</Words>
  <Application>Microsoft Office PowerPoint</Application>
  <PresentationFormat>Widescreen</PresentationFormat>
  <Paragraphs>25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Tw Cen MT</vt:lpstr>
      <vt:lpstr>Wingdings</vt:lpstr>
      <vt:lpstr>Droplet</vt:lpstr>
      <vt:lpstr>Tech Stock Market Analysis &amp; Trend Detection</vt:lpstr>
      <vt:lpstr>Tech Stock Market Analysis &amp; Trend Detection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Sushil kumar</dc:creator>
  <cp:lastModifiedBy>Sushil kumar</cp:lastModifiedBy>
  <cp:revision>4</cp:revision>
  <dcterms:created xsi:type="dcterms:W3CDTF">2026-05-22T18:17:18Z</dcterms:created>
  <dcterms:modified xsi:type="dcterms:W3CDTF">2026-05-22T19:05:26Z</dcterms:modified>
</cp:coreProperties>
</file>